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58368"/>
            <a:ext cx="475488" cy="475488"/>
          </a:xfrm>
          <a:prstGeom prst="roundRect">
            <a:avLst/>
          </a:prstGeom>
          <a:solidFill>
            <a:srgbClr val="9BD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475488" cy="47548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2000" b="1">
                <a:solidFill>
                  <a:srgbClr val="173B3B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502920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400" b="1">
                <a:solidFill>
                  <a:srgbClr val="9BDEC2"/>
                </a:solidFill>
                <a:latin typeface="Aptos"/>
              </a:rPr>
              <a:t>STUDYFLOW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6675120" cy="1371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Georgia"/>
              </a:rPr>
              <a:t>Seu espaço
de foco.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703320"/>
            <a:ext cx="512064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900" b="0">
                <a:solidFill>
                  <a:srgbClr val="CDE2DC"/>
                </a:solidFill>
                <a:latin typeface="Aptos"/>
              </a:rPr>
              <a:t>Um planejador de estudos para transformar
intenção em progresso visível.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349240"/>
            <a:ext cx="6492240" cy="8686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900" b="0">
                <a:solidFill>
                  <a:srgbClr val="A6C3BB"/>
                </a:solidFill>
                <a:latin typeface="Aptos"/>
              </a:rPr>
              <a:t>Gestão e Qualidade de Software  ·  A3
João Vitor Alves Rodrigues · RA 32513480
Rafael Luiz Ferreira de Souza · RA 32511503
Pietro Cardoso de Oliveira · RA 32515280
Gustavo Henrique Ramos Gomes · RA 325141430
Pedro Henrique Martins · RA 325130235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143000"/>
            <a:ext cx="3429000" cy="4526280"/>
          </a:xfrm>
          <a:prstGeom prst="roundRect">
            <a:avLst/>
          </a:prstGeom>
          <a:solidFill>
            <a:srgbClr val="2C5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901952"/>
            <a:ext cx="2560320" cy="7315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4600" b="1">
                <a:solidFill>
                  <a:srgbClr val="9BDEC2"/>
                </a:solidFill>
                <a:latin typeface="Georgia"/>
              </a:rPr>
              <a:t>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633472"/>
            <a:ext cx="256032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0">
                <a:solidFill>
                  <a:srgbClr val="BDDACF"/>
                </a:solidFill>
                <a:latin typeface="Aptos"/>
              </a:rPr>
              <a:t>meta semanal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703320"/>
            <a:ext cx="109728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3813048"/>
            <a:ext cx="164592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0">
                <a:solidFill>
                  <a:srgbClr val="BDDACF"/>
                </a:solidFill>
                <a:latin typeface="Aptos"/>
              </a:rPr>
              <a:t>tarefas concluídas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D37862"/>
                </a:solidFill>
                <a:latin typeface="Aptos"/>
              </a:rPr>
              <a:t>STUDYFLOW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20040"/>
            <a:ext cx="54864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1000" b="1">
                <a:solidFill>
                  <a:srgbClr val="6F8782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41148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6F8782"/>
                </a:solidFill>
                <a:latin typeface="Aptos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789920" cy="594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800" b="1">
                <a:solidFill>
                  <a:srgbClr val="223D3C"/>
                </a:solidFill>
                <a:latin typeface="Georgia"/>
              </a:rPr>
              <a:t>O problema e a oportunidade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53492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95728"/>
            <a:ext cx="4480560" cy="4114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300" b="1">
                <a:solidFill>
                  <a:srgbClr val="223D3C"/>
                </a:solidFill>
                <a:latin typeface="Georgia"/>
              </a:rPr>
              <a:t>A rotina acadêmica está fragmentada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480560" cy="3840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0">
                <a:solidFill>
                  <a:srgbClr val="223D3C"/>
                </a:solidFill>
                <a:latin typeface="Aptos"/>
              </a:rPr>
              <a:t>•  Prazos espalhados em mensagens e anotações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4480560" cy="3840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0">
                <a:solidFill>
                  <a:srgbClr val="223D3C"/>
                </a:solidFill>
                <a:latin typeface="Aptos"/>
              </a:rPr>
              <a:t>•  Baixa visibilidade sobre prioridades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4480560" cy="3840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0">
                <a:solidFill>
                  <a:srgbClr val="223D3C"/>
                </a:solidFill>
                <a:latin typeface="Aptos"/>
              </a:rPr>
              <a:t>•  Atrasos, retrabalho e ansiedade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57400"/>
            <a:ext cx="5349240" cy="3474720"/>
          </a:xfrm>
          <a:prstGeom prst="roundRect">
            <a:avLst/>
          </a:prstGeom>
          <a:solidFill>
            <a:srgbClr val="17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95728"/>
            <a:ext cx="4480560" cy="4114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Georgia"/>
              </a:rPr>
              <a:t>A resposta do StudyFlow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063240"/>
            <a:ext cx="4480560" cy="3840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0">
                <a:solidFill>
                  <a:srgbClr val="D7EDE4"/>
                </a:solidFill>
                <a:latin typeface="Aptos"/>
              </a:rPr>
              <a:t>•  Uma visão simples do que importa agora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3657600"/>
            <a:ext cx="4480560" cy="3840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0">
                <a:solidFill>
                  <a:srgbClr val="D7EDE4"/>
                </a:solidFill>
                <a:latin typeface="Aptos"/>
              </a:rPr>
              <a:t>•  Tarefas com prazo e prioridade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4251960"/>
            <a:ext cx="4480560" cy="3840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0">
                <a:solidFill>
                  <a:srgbClr val="9BDEC2"/>
                </a:solidFill>
                <a:latin typeface="Aptos"/>
              </a:rPr>
              <a:t>•  ODS 4: apoio à educação de qualidade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800" b="0">
                <a:solidFill>
                  <a:srgbClr val="6F8782"/>
                </a:solidFill>
                <a:latin typeface="Aptos"/>
              </a:rPr>
              <a:t>Gestão e Qualidade de Software  ·  A3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D37862"/>
                </a:solidFill>
                <a:latin typeface="Aptos"/>
              </a:rPr>
              <a:t>STUDYFLOW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20040"/>
            <a:ext cx="54864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1000" b="1">
                <a:solidFill>
                  <a:srgbClr val="6F8782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41148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6F8782"/>
                </a:solidFill>
                <a:latin typeface="Aptos"/>
              </a:rPr>
              <a:t>FLUXO CRÍTICO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789920" cy="594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800" b="1">
                <a:solidFill>
                  <a:srgbClr val="223D3C"/>
                </a:solidFill>
                <a:latin typeface="Georgia"/>
              </a:rPr>
              <a:t>Do plano à ação em três movimentos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324612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1148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1">
                <a:solidFill>
                  <a:srgbClr val="D3786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265176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200" b="1">
                <a:solidFill>
                  <a:srgbClr val="223D3C"/>
                </a:solidFill>
                <a:latin typeface="Georgia"/>
              </a:rPr>
              <a:t>1. Planejar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56032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500" b="0">
                <a:solidFill>
                  <a:srgbClr val="6F8782"/>
                </a:solidFill>
                <a:latin typeface="Aptos"/>
              </a:rPr>
              <a:t>Cadastrar tarefa
e definir prioridade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6512" y="3246120"/>
            <a:ext cx="32004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2500" b="1">
                <a:solidFill>
                  <a:srgbClr val="D37862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240280"/>
            <a:ext cx="324612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514600"/>
            <a:ext cx="41148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1">
                <a:solidFill>
                  <a:srgbClr val="D37862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063240"/>
            <a:ext cx="265176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200" b="1">
                <a:solidFill>
                  <a:srgbClr val="223D3C"/>
                </a:solidFill>
                <a:latin typeface="Georgia"/>
              </a:rPr>
              <a:t>2. Executar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657600"/>
            <a:ext cx="256032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500" b="0">
                <a:solidFill>
                  <a:srgbClr val="6F8782"/>
                </a:solidFill>
                <a:latin typeface="Aptos"/>
              </a:rPr>
              <a:t>Visualizar o que
precisa de foco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2" y="3246120"/>
            <a:ext cx="32004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2500" b="1">
                <a:solidFill>
                  <a:srgbClr val="D37862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240280"/>
            <a:ext cx="324612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514600"/>
            <a:ext cx="41148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1">
                <a:solidFill>
                  <a:srgbClr val="D37862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063240"/>
            <a:ext cx="265176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200" b="1">
                <a:solidFill>
                  <a:srgbClr val="223D3C"/>
                </a:solidFill>
                <a:latin typeface="Georgia"/>
              </a:rPr>
              <a:t>3. Progredir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657600"/>
            <a:ext cx="256032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500" b="0">
                <a:solidFill>
                  <a:srgbClr val="6F8782"/>
                </a:solidFill>
                <a:latin typeface="Aptos"/>
              </a:rPr>
              <a:t>Concluir e acompanhar
o ritmo semanal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03520"/>
            <a:ext cx="731520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300" b="0">
                <a:solidFill>
                  <a:srgbClr val="6F8782"/>
                </a:solidFill>
                <a:latin typeface="Aptos"/>
              </a:rPr>
              <a:t>Cadastro · filtros · conclusão · indicadores semanais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800" b="0">
                <a:solidFill>
                  <a:srgbClr val="6F8782"/>
                </a:solidFill>
                <a:latin typeface="Aptos"/>
              </a:rPr>
              <a:t>Gestão e Qualidade de Software  ·  A3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D37862"/>
                </a:solidFill>
                <a:latin typeface="Aptos"/>
              </a:rPr>
              <a:t>STUDYFLOW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20040"/>
            <a:ext cx="54864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1000" b="1">
                <a:solidFill>
                  <a:srgbClr val="6F8782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41148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6F8782"/>
                </a:solidFill>
                <a:latin typeface="Aptos"/>
              </a:rPr>
              <a:t>METAS DE QUALIDADE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789920" cy="594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800" b="1">
                <a:solidFill>
                  <a:srgbClr val="223D3C"/>
                </a:solidFill>
                <a:latin typeface="Georgia"/>
              </a:rPr>
              <a:t>Qualidade como requisito, não como promessa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49834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286000"/>
            <a:ext cx="640080" cy="640080"/>
          </a:xfrm>
          <a:prstGeom prst="roundRect">
            <a:avLst/>
          </a:prstGeom>
          <a:solidFill>
            <a:srgbClr val="9BD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64008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800" b="1">
                <a:solidFill>
                  <a:srgbClr val="223D3C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13432"/>
            <a:ext cx="347472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1">
                <a:solidFill>
                  <a:srgbClr val="223D3C"/>
                </a:solidFill>
                <a:latin typeface="Aptos"/>
              </a:rPr>
              <a:t>Responsivo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70048"/>
            <a:ext cx="347472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6F8782"/>
                </a:solidFill>
                <a:latin typeface="Aptos"/>
              </a:rPr>
              <a:t>360px · 768px · desktop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057400"/>
            <a:ext cx="49834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59" y="2286000"/>
            <a:ext cx="640080" cy="640080"/>
          </a:xfrm>
          <a:prstGeom prst="roundRect">
            <a:avLst/>
          </a:prstGeom>
          <a:solidFill>
            <a:srgbClr val="F5D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286000"/>
            <a:ext cx="64008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800" b="1">
                <a:solidFill>
                  <a:srgbClr val="223D3C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313432"/>
            <a:ext cx="347472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1">
                <a:solidFill>
                  <a:srgbClr val="223D3C"/>
                </a:solidFill>
                <a:latin typeface="Aptos"/>
              </a:rPr>
              <a:t>Seguro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670048"/>
            <a:ext cx="347472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6F8782"/>
                </a:solidFill>
                <a:latin typeface="Aptos"/>
              </a:rPr>
              <a:t>validação de entrada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49834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3794760"/>
            <a:ext cx="640080" cy="640080"/>
          </a:xfrm>
          <a:prstGeom prst="roundRect">
            <a:avLst/>
          </a:prstGeom>
          <a:solidFill>
            <a:srgbClr val="B8D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94760"/>
            <a:ext cx="64008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800" b="1">
                <a:solidFill>
                  <a:srgbClr val="223D3C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822191"/>
            <a:ext cx="347472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1">
                <a:solidFill>
                  <a:srgbClr val="223D3C"/>
                </a:solidFill>
                <a:latin typeface="Aptos"/>
              </a:rPr>
              <a:t>Rápido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178808"/>
            <a:ext cx="347472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6F8782"/>
                </a:solidFill>
                <a:latin typeface="Aptos"/>
              </a:rPr>
              <a:t>carregamento ≤ 2s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566160"/>
            <a:ext cx="49834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59" y="3794760"/>
            <a:ext cx="640080" cy="640080"/>
          </a:xfrm>
          <a:prstGeom prst="roundRect">
            <a:avLst/>
          </a:prstGeom>
          <a:solidFill>
            <a:srgbClr val="DAC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3794760"/>
            <a:ext cx="64008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800" b="1">
                <a:solidFill>
                  <a:srgbClr val="223D3C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822191"/>
            <a:ext cx="347472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700" b="1">
                <a:solidFill>
                  <a:srgbClr val="223D3C"/>
                </a:solidFill>
                <a:latin typeface="Aptos"/>
              </a:rPr>
              <a:t>Disponível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178808"/>
            <a:ext cx="347472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6F8782"/>
                </a:solidFill>
                <a:latin typeface="Aptos"/>
              </a:rPr>
              <a:t>CI em todo 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800" b="0">
                <a:solidFill>
                  <a:srgbClr val="6F8782"/>
                </a:solidFill>
                <a:latin typeface="Aptos"/>
              </a:rPr>
              <a:t>Gestão e Qualidade de Software  ·  A3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D37862"/>
                </a:solidFill>
                <a:latin typeface="Aptos"/>
              </a:rPr>
              <a:t>STUDYFLOW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20040"/>
            <a:ext cx="54864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1000" b="1">
                <a:solidFill>
                  <a:srgbClr val="6F8782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41148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6F8782"/>
                </a:solidFill>
                <a:latin typeface="Aptos"/>
              </a:rPr>
              <a:t>ARQUITETURA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789920" cy="594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800" b="1">
                <a:solidFill>
                  <a:srgbClr val="223D3C"/>
                </a:solidFill>
                <a:latin typeface="Georgia"/>
              </a:rPr>
              <a:t>Um domínio pequeno e pronto para crescer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42976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514600"/>
            <a:ext cx="365760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900" b="1">
                <a:solidFill>
                  <a:srgbClr val="D37862"/>
                </a:solidFill>
                <a:latin typeface="Aptos"/>
              </a:rPr>
              <a:t>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971800"/>
            <a:ext cx="3657600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223D3C"/>
                </a:solidFill>
                <a:latin typeface="Aptos"/>
              </a:rPr>
              <a:t>id · chave primária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46120"/>
            <a:ext cx="3657600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223D3C"/>
                </a:solidFill>
                <a:latin typeface="Aptos"/>
              </a:rPr>
              <a:t>title · título obrigatório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20440"/>
            <a:ext cx="3657600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223D3C"/>
                </a:solidFill>
                <a:latin typeface="Aptos"/>
              </a:rPr>
              <a:t>subject · disciplina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794760"/>
            <a:ext cx="3657600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223D3C"/>
                </a:solidFill>
                <a:latin typeface="Aptos"/>
              </a:rPr>
              <a:t>due_date · prazo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69080"/>
            <a:ext cx="3657600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223D3C"/>
                </a:solidFill>
                <a:latin typeface="Aptos"/>
              </a:rPr>
              <a:t>priority · Alta / Média / Baixa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343400"/>
            <a:ext cx="3657600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223D3C"/>
                </a:solidFill>
                <a:latin typeface="Aptos"/>
              </a:rPr>
              <a:t>status · pending /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201168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000" b="1">
                <a:solidFill>
                  <a:srgbClr val="223D3C"/>
                </a:solidFill>
                <a:latin typeface="Georgia"/>
              </a:rPr>
              <a:t>React + 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201168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300" b="1">
                <a:solidFill>
                  <a:srgbClr val="D37862"/>
                </a:solidFill>
                <a:latin typeface="Aptos"/>
              </a:rPr>
              <a:t>↓ JSON / HTTP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29000"/>
            <a:ext cx="228600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000" b="1">
                <a:solidFill>
                  <a:srgbClr val="223D3C"/>
                </a:solidFill>
                <a:latin typeface="Georgia"/>
              </a:rPr>
              <a:t>Flask REST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77639"/>
            <a:ext cx="201168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300" b="1">
                <a:solidFill>
                  <a:srgbClr val="D37862"/>
                </a:solidFill>
                <a:latin typeface="Aptos"/>
              </a:rPr>
              <a:t>↓ persistência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526280"/>
            <a:ext cx="182880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000" b="1">
                <a:solidFill>
                  <a:srgbClr val="223D3C"/>
                </a:solidFill>
                <a:latin typeface="Georgia"/>
              </a:rPr>
              <a:t>SQLite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800" b="0">
                <a:solidFill>
                  <a:srgbClr val="6F8782"/>
                </a:solidFill>
                <a:latin typeface="Aptos"/>
              </a:rPr>
              <a:t>Gestão e Qualidade de Software  ·  A3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D37862"/>
                </a:solidFill>
                <a:latin typeface="Aptos"/>
              </a:rPr>
              <a:t>STUDYFLOW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20040"/>
            <a:ext cx="54864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1000" b="1">
                <a:solidFill>
                  <a:srgbClr val="6F8782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41148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6F8782"/>
                </a:solidFill>
                <a:latin typeface="Aptos"/>
              </a:rPr>
              <a:t>DOMÍNIO E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789920" cy="594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800" b="1">
                <a:solidFill>
                  <a:srgbClr val="223D3C"/>
                </a:solidFill>
                <a:latin typeface="Georgia"/>
              </a:rPr>
              <a:t>Regras claras deixam o código confiável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32461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33472"/>
            <a:ext cx="265176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900" b="1">
                <a:solidFill>
                  <a:srgbClr val="223D3C"/>
                </a:solidFill>
                <a:latin typeface="Georgia"/>
              </a:rPr>
              <a:t>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256032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300" b="0">
                <a:solidFill>
                  <a:srgbClr val="6F8782"/>
                </a:solidFill>
                <a:latin typeface="Aptos"/>
              </a:rPr>
              <a:t>entidade e estado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240280"/>
            <a:ext cx="3246120" cy="1920240"/>
          </a:xfrm>
          <a:prstGeom prst="roundRect">
            <a:avLst/>
          </a:prstGeom>
          <a:solidFill>
            <a:srgbClr val="17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633472"/>
            <a:ext cx="265176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Georgia"/>
              </a:rPr>
              <a:t>TaskRepository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246120"/>
            <a:ext cx="256032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300" b="0">
                <a:solidFill>
                  <a:srgbClr val="9BDEC2"/>
                </a:solidFill>
                <a:latin typeface="Aptos"/>
              </a:rPr>
              <a:t>persistência e consultas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240280"/>
            <a:ext cx="32461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633472"/>
            <a:ext cx="265176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900" b="1">
                <a:solidFill>
                  <a:srgbClr val="223D3C"/>
                </a:solidFill>
                <a:latin typeface="Georgia"/>
              </a:rPr>
              <a:t>TaskAPI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246120"/>
            <a:ext cx="256032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300" b="0">
                <a:solidFill>
                  <a:srgbClr val="6F8782"/>
                </a:solidFill>
                <a:latin typeface="Aptos"/>
              </a:rPr>
              <a:t>contrato HTTP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822960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500" b="0">
                <a:solidFill>
                  <a:srgbClr val="6F8782"/>
                </a:solidFill>
                <a:latin typeface="Aptos"/>
              </a:rPr>
              <a:t>Título não vazio  ·  prioridade válida  ·  status controlado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800" b="0">
                <a:solidFill>
                  <a:srgbClr val="6F8782"/>
                </a:solidFill>
                <a:latin typeface="Aptos"/>
              </a:rPr>
              <a:t>Gestão e Qualidade de Software  ·  A3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D37862"/>
                </a:solidFill>
                <a:latin typeface="Aptos"/>
              </a:rPr>
              <a:t>STUDYFLOW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20040"/>
            <a:ext cx="54864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1000" b="1">
                <a:solidFill>
                  <a:srgbClr val="6F8782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41148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6F8782"/>
                </a:solidFill>
                <a:latin typeface="Aptos"/>
              </a:rPr>
              <a:t>GIT E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789920" cy="594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800" b="1">
                <a:solidFill>
                  <a:srgbClr val="223D3C"/>
                </a:solidFill>
                <a:latin typeface="Georgia"/>
              </a:rPr>
              <a:t>Fluxo de entrega com rastreabilidade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23774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33472"/>
            <a:ext cx="201168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800" b="1">
                <a:solidFill>
                  <a:srgbClr val="223D3C"/>
                </a:solidFill>
                <a:latin typeface="Georgia"/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2011680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000" b="0">
                <a:solidFill>
                  <a:srgbClr val="6F8782"/>
                </a:solidFill>
                <a:latin typeface="Aptos"/>
              </a:rPr>
              <a:t>desenvolver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743200"/>
            <a:ext cx="64008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2400" b="1">
                <a:solidFill>
                  <a:srgbClr val="D37862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377440"/>
            <a:ext cx="23774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633472"/>
            <a:ext cx="201168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800" b="1">
                <a:solidFill>
                  <a:srgbClr val="223D3C"/>
                </a:solidFill>
                <a:latin typeface="Georgia"/>
              </a:rPr>
              <a:t>develop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017520"/>
            <a:ext cx="2011680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000" b="0">
                <a:solidFill>
                  <a:srgbClr val="6F8782"/>
                </a:solidFill>
                <a:latin typeface="Aptos"/>
              </a:rPr>
              <a:t>integrar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743200"/>
            <a:ext cx="64008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2400" b="1">
                <a:solidFill>
                  <a:srgbClr val="D37862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377440"/>
            <a:ext cx="2377440" cy="1143000"/>
          </a:xfrm>
          <a:prstGeom prst="roundRect">
            <a:avLst/>
          </a:prstGeom>
          <a:solidFill>
            <a:srgbClr val="17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2633472"/>
            <a:ext cx="201168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3017520"/>
            <a:ext cx="2011680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000" b="0">
                <a:solidFill>
                  <a:srgbClr val="9BDEC2"/>
                </a:solidFill>
                <a:latin typeface="Aptos"/>
              </a:rPr>
              <a:t>entregar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777240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1">
                <a:solidFill>
                  <a:srgbClr val="223D3C"/>
                </a:solidFill>
                <a:latin typeface="Aptos"/>
              </a:rPr>
              <a:t>PR → testes pytest → build Vite → revisão obrigatória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800" b="0">
                <a:solidFill>
                  <a:srgbClr val="6F8782"/>
                </a:solidFill>
                <a:latin typeface="Aptos"/>
              </a:rPr>
              <a:t>Gestão e Qualidade de Software  ·  A3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D37862"/>
                </a:solidFill>
                <a:latin typeface="Aptos"/>
              </a:rPr>
              <a:t>STUDYFLOW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20040"/>
            <a:ext cx="54864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1000" b="1">
                <a:solidFill>
                  <a:srgbClr val="6F8782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41148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6F8782"/>
                </a:solidFill>
                <a:latin typeface="Aptos"/>
              </a:rPr>
              <a:t>TESTES E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789920" cy="594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800" b="1">
                <a:solidFill>
                  <a:srgbClr val="223D3C"/>
                </a:solidFill>
                <a:latin typeface="Georgia"/>
              </a:rPr>
              <a:t>Validar cedo custa menos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4983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59436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D37862"/>
                </a:solidFill>
                <a:latin typeface="Aptos"/>
              </a:rPr>
              <a:t>QA-01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58568"/>
            <a:ext cx="347472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500" b="1">
                <a:solidFill>
                  <a:srgbClr val="223D3C"/>
                </a:solidFill>
                <a:latin typeface="Aptos"/>
              </a:rPr>
              <a:t>Cadastro válido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06040"/>
            <a:ext cx="3474720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6F8782"/>
                </a:solidFill>
                <a:latin typeface="Aptos"/>
              </a:rPr>
              <a:t>tarefa aparece pendente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057400"/>
            <a:ext cx="4983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286000"/>
            <a:ext cx="59436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D37862"/>
                </a:solidFill>
                <a:latin typeface="Aptos"/>
              </a:rPr>
              <a:t>QA-02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258568"/>
            <a:ext cx="347472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500" b="1">
                <a:solidFill>
                  <a:srgbClr val="223D3C"/>
                </a:solidFill>
                <a:latin typeface="Aptos"/>
              </a:rPr>
              <a:t>Concluir tarefa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606040"/>
            <a:ext cx="3474720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6F8782"/>
                </a:solidFill>
                <a:latin typeface="Aptos"/>
              </a:rPr>
              <a:t>status e contagem mudam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4983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03320"/>
            <a:ext cx="59436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D37862"/>
                </a:solidFill>
                <a:latin typeface="Aptos"/>
              </a:rPr>
              <a:t>QA-03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75887"/>
            <a:ext cx="347472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500" b="1">
                <a:solidFill>
                  <a:srgbClr val="223D3C"/>
                </a:solidFill>
                <a:latin typeface="Aptos"/>
              </a:rPr>
              <a:t>Título ausente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023359"/>
            <a:ext cx="3474720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6F8782"/>
                </a:solidFill>
                <a:latin typeface="Aptos"/>
              </a:rPr>
              <a:t>API responde 400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474720"/>
            <a:ext cx="4983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3703320"/>
            <a:ext cx="59436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D37862"/>
                </a:solidFill>
                <a:latin typeface="Aptos"/>
              </a:rPr>
              <a:t>QA-04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675887"/>
            <a:ext cx="347472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500" b="1">
                <a:solidFill>
                  <a:srgbClr val="223D3C"/>
                </a:solidFill>
                <a:latin typeface="Aptos"/>
              </a:rPr>
              <a:t>Mobile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023359"/>
            <a:ext cx="3474720" cy="20116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100" b="0">
                <a:solidFill>
                  <a:srgbClr val="6F8782"/>
                </a:solidFill>
                <a:latin typeface="Aptos"/>
              </a:rPr>
              <a:t>sem sobreposição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800" b="0">
                <a:solidFill>
                  <a:srgbClr val="6F8782"/>
                </a:solidFill>
                <a:latin typeface="Aptos"/>
              </a:rPr>
              <a:t>Gestão e Qualidade de Software  ·  A3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D37862"/>
                </a:solidFill>
                <a:latin typeface="Aptos"/>
              </a:rPr>
              <a:t>STUDYFLOW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20040"/>
            <a:ext cx="54864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1000" b="1">
                <a:solidFill>
                  <a:srgbClr val="6F8782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41148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000" b="1">
                <a:solidFill>
                  <a:srgbClr val="6F8782"/>
                </a:solidFill>
                <a:latin typeface="Aptos"/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789920" cy="594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800" b="1">
                <a:solidFill>
                  <a:srgbClr val="223D3C"/>
                </a:solidFill>
                <a:latin typeface="Georgia"/>
              </a:rPr>
              <a:t>Uma base simples para uma evolução consistente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583680" cy="3017520"/>
          </a:xfrm>
          <a:prstGeom prst="roundRect">
            <a:avLst/>
          </a:prstGeom>
          <a:solidFill>
            <a:srgbClr val="17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530352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O StudyFlow entrega o essencial: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5394960" cy="3840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0">
                <a:solidFill>
                  <a:srgbClr val="D7EDE4"/>
                </a:solidFill>
                <a:latin typeface="Aptos"/>
              </a:rPr>
              <a:t>•  problema real e escopo demonstrável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5394960" cy="3840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0">
                <a:solidFill>
                  <a:srgbClr val="D7EDE4"/>
                </a:solidFill>
                <a:latin typeface="Aptos"/>
              </a:rPr>
              <a:t>•  frontend responsivo + API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51960"/>
            <a:ext cx="5394960" cy="38404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600" b="0">
                <a:solidFill>
                  <a:srgbClr val="D7EDE4"/>
                </a:solidFill>
                <a:latin typeface="Aptos"/>
              </a:rPr>
              <a:t>•  testes, CI e documentação rastreável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520440" cy="3017520"/>
          </a:xfrm>
          <a:prstGeom prst="roundRect">
            <a:avLst/>
          </a:prstGeom>
          <a:solidFill>
            <a:srgbClr val="D3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606040"/>
            <a:ext cx="274320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1200" b="1">
                <a:solidFill>
                  <a:srgbClr val="FFE0D7"/>
                </a:solidFill>
                <a:latin typeface="Aptos"/>
              </a:rPr>
              <a:t>Próximo passo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154680"/>
            <a:ext cx="2560320" cy="10972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Autenticação,
calendário real e
PostgreSQL.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274320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2200" b="1">
                <a:solidFill>
                  <a:srgbClr val="223D3C"/>
                </a:solidFill>
                <a:latin typeface="Georgia"/>
              </a:rPr>
              <a:t>Obrigado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800" b="0">
                <a:solidFill>
                  <a:srgbClr val="6F8782"/>
                </a:solidFill>
                <a:latin typeface="Aptos"/>
              </a:rPr>
              <a:t>Gestão e Qualidade de Software  ·  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