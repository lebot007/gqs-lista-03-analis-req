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955280" y="0"/>
            <a:ext cx="0" cy="6858000"/>
          </a:xfrm>
          <a:prstGeom prst="line">
            <a:avLst/>
          </a:prstGeom>
          <a:noFill/>
          <a:ln w="12700">
            <a:solidFill>
              <a:srgbClr val="23304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641080" y="0"/>
            <a:ext cx="0" cy="6858000"/>
          </a:xfrm>
          <a:prstGeom prst="line">
            <a:avLst/>
          </a:prstGeom>
          <a:noFill/>
          <a:ln w="12700">
            <a:solidFill>
              <a:srgbClr val="23304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9326880" y="0"/>
            <a:ext cx="0" cy="6858000"/>
          </a:xfrm>
          <a:prstGeom prst="line">
            <a:avLst/>
          </a:prstGeom>
          <a:noFill/>
          <a:ln w="12700">
            <a:solidFill>
              <a:srgbClr val="23304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0012680" y="0"/>
            <a:ext cx="0" cy="6858000"/>
          </a:xfrm>
          <a:prstGeom prst="line">
            <a:avLst/>
          </a:prstGeom>
          <a:noFill/>
          <a:ln w="12700">
            <a:solidFill>
              <a:srgbClr val="23304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0698480" y="0"/>
            <a:ext cx="0" cy="6858000"/>
          </a:xfrm>
          <a:prstGeom prst="line">
            <a:avLst/>
          </a:prstGeom>
          <a:noFill/>
          <a:ln w="12700">
            <a:solidFill>
              <a:srgbClr val="23304A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1384280" y="0"/>
            <a:ext cx="0" cy="6858000"/>
          </a:xfrm>
          <a:prstGeom prst="line">
            <a:avLst/>
          </a:prstGeom>
          <a:noFill/>
          <a:ln w="12700">
            <a:solidFill>
              <a:srgbClr val="23304A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772400" y="0"/>
            <a:ext cx="4416552" cy="6858000"/>
          </a:xfrm>
          <a:prstGeom prst="rect">
            <a:avLst/>
          </a:prstGeom>
          <a:solidFill>
            <a:srgbClr val="0E1626"/>
          </a:solidFill>
          <a:ln/>
        </p:spPr>
      </p:sp>
      <p:sp>
        <p:nvSpPr>
          <p:cNvPr id="9" name="Shape 7"/>
          <p:cNvSpPr/>
          <p:nvPr/>
        </p:nvSpPr>
        <p:spPr>
          <a:xfrm>
            <a:off x="640080" y="594360"/>
            <a:ext cx="566928" cy="566928"/>
          </a:xfrm>
          <a:prstGeom prst="roundRect">
            <a:avLst>
              <a:gd name="adj" fmla="val 22000"/>
            </a:avLst>
          </a:prstGeom>
          <a:solidFill>
            <a:srgbClr val="22C55E"/>
          </a:solidFill>
          <a:ln/>
        </p:spPr>
      </p:sp>
      <p:sp>
        <p:nvSpPr>
          <p:cNvPr id="10" name="Text 8"/>
          <p:cNvSpPr/>
          <p:nvPr/>
        </p:nvSpPr>
        <p:spPr>
          <a:xfrm>
            <a:off x="640080" y="59436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52" b="1" dirty="0">
                <a:solidFill>
                  <a:srgbClr val="0B12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</a:t>
            </a:r>
            <a:endParaRPr lang="en-US" sz="2852" dirty="0"/>
          </a:p>
        </p:txBody>
      </p:sp>
      <p:sp>
        <p:nvSpPr>
          <p:cNvPr id="11" name="Text 9"/>
          <p:cNvSpPr/>
          <p:nvPr/>
        </p:nvSpPr>
        <p:spPr>
          <a:xfrm>
            <a:off x="1371600" y="594360"/>
            <a:ext cx="45720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spc="300" kern="0" dirty="0">
                <a:solidFill>
                  <a:srgbClr val="F1F5F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PARKSIM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640080" y="2148840"/>
            <a:ext cx="7863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F1F5F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ParkSim</a:t>
            </a:r>
            <a:endParaRPr lang="en-US" sz="4800" dirty="0"/>
          </a:p>
        </p:txBody>
      </p:sp>
      <p:sp>
        <p:nvSpPr>
          <p:cNvPr id="13" name="Text 11"/>
          <p:cNvSpPr/>
          <p:nvPr/>
        </p:nvSpPr>
        <p:spPr>
          <a:xfrm>
            <a:off x="640080" y="3063240"/>
            <a:ext cx="7863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Sistema Simulador de Estacionamento Inteligente</a:t>
            </a:r>
            <a:endParaRPr lang="en-US" sz="1900" dirty="0"/>
          </a:p>
        </p:txBody>
      </p:sp>
      <p:sp>
        <p:nvSpPr>
          <p:cNvPr id="14" name="Shape 12"/>
          <p:cNvSpPr/>
          <p:nvPr/>
        </p:nvSpPr>
        <p:spPr>
          <a:xfrm>
            <a:off x="640080" y="3703320"/>
            <a:ext cx="5852160" cy="0"/>
          </a:xfrm>
          <a:prstGeom prst="line">
            <a:avLst/>
          </a:prstGeom>
          <a:noFill/>
          <a:ln w="12700">
            <a:solidFill>
              <a:srgbClr val="23304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40080" y="3886200"/>
            <a:ext cx="5852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3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Disciplina: </a:t>
            </a:r>
            <a:pPr indent="0" marL="0">
              <a:lnSpc>
                <a:spcPct val="135000"/>
              </a:lnSpc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Gestão e Qualidade de Software
</a:t>
            </a:r>
            <a:pPr indent="0" marL="0">
              <a:lnSpc>
                <a:spcPct val="135000"/>
              </a:lnSpc>
              <a:buNone/>
            </a:pPr>
            <a:r>
              <a:rPr lang="en-US" sz="13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Professor: </a:t>
            </a:r>
            <a:pPr indent="0" marL="0">
              <a:lnSpc>
                <a:spcPct val="135000"/>
              </a:lnSpc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Daniel Henrique Matos de Paiva
</a:t>
            </a:r>
            <a:pPr indent="0" marL="0">
              <a:lnSpc>
                <a:spcPct val="135000"/>
              </a:lnSpc>
              <a:buNone/>
            </a:pPr>
            <a:r>
              <a:rPr lang="en-US" sz="13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Instituição: </a:t>
            </a:r>
            <a:pPr indent="0" marL="0">
              <a:lnSpc>
                <a:spcPct val="135000"/>
              </a:lnSpc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UNA Barreiro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640080" y="4937760"/>
            <a:ext cx="6949440" cy="1371600"/>
          </a:xfrm>
          <a:prstGeom prst="roundRect">
            <a:avLst>
              <a:gd name="adj" fmla="val 5333"/>
            </a:avLst>
          </a:prstGeom>
          <a:solidFill>
            <a:srgbClr val="141B2E"/>
          </a:solidFill>
          <a:ln w="12700">
            <a:solidFill>
              <a:srgbClr val="23304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68680" y="5047488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EQUIPE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868680" y="5321808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João Vitor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5577840" y="5321808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 32513480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868680" y="5632704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Rafael Luiz Ferreira de Souza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5577840" y="5632704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 32511503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868680" y="5943600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Pietro Cardoso de Oliveira</a:t>
            </a:r>
            <a:endParaRPr lang="en-US" sz="1250" dirty="0"/>
          </a:p>
        </p:txBody>
      </p:sp>
      <p:sp>
        <p:nvSpPr>
          <p:cNvPr id="23" name="Text 21"/>
          <p:cNvSpPr/>
          <p:nvPr/>
        </p:nvSpPr>
        <p:spPr>
          <a:xfrm>
            <a:off x="5577840" y="5943600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 32515280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8275320" y="5989320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3B82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gqs-lista-03-analis-req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8275320" y="5760720"/>
            <a:ext cx="3291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REPOSITÓRIO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UNA Barreiro — Gestão e Qualidade de Software | ParkSim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11365992" y="647395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8229600" y="548640"/>
            <a:ext cx="3291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2330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3400" dirty="0"/>
          </a:p>
        </p:txBody>
      </p:sp>
      <p:sp>
        <p:nvSpPr>
          <p:cNvPr id="29" name="Text 27"/>
          <p:cNvSpPr/>
          <p:nvPr/>
        </p:nvSpPr>
        <p:spPr>
          <a:xfrm>
            <a:off x="8229600" y="1417320"/>
            <a:ext cx="3291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2330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3400" dirty="0"/>
          </a:p>
        </p:txBody>
      </p:sp>
      <p:sp>
        <p:nvSpPr>
          <p:cNvPr id="30" name="Text 28"/>
          <p:cNvSpPr/>
          <p:nvPr/>
        </p:nvSpPr>
        <p:spPr>
          <a:xfrm>
            <a:off x="8229600" y="2286000"/>
            <a:ext cx="3291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2330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3400" dirty="0"/>
          </a:p>
        </p:txBody>
      </p:sp>
      <p:sp>
        <p:nvSpPr>
          <p:cNvPr id="31" name="Text 29"/>
          <p:cNvSpPr/>
          <p:nvPr/>
        </p:nvSpPr>
        <p:spPr>
          <a:xfrm>
            <a:off x="8229600" y="3154680"/>
            <a:ext cx="3291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2330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endParaRPr lang="en-US" sz="3400" dirty="0"/>
          </a:p>
        </p:txBody>
      </p:sp>
      <p:sp>
        <p:nvSpPr>
          <p:cNvPr id="32" name="Text 30"/>
          <p:cNvSpPr/>
          <p:nvPr/>
        </p:nvSpPr>
        <p:spPr>
          <a:xfrm>
            <a:off x="8229600" y="4023360"/>
            <a:ext cx="3291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2330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05</a:t>
            </a:r>
            <a:endParaRPr lang="en-US" sz="3400" dirty="0"/>
          </a:p>
        </p:txBody>
      </p:sp>
      <p:sp>
        <p:nvSpPr>
          <p:cNvPr id="33" name="Text 31"/>
          <p:cNvSpPr/>
          <p:nvPr/>
        </p:nvSpPr>
        <p:spPr>
          <a:xfrm>
            <a:off x="8229600" y="4892040"/>
            <a:ext cx="3291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2330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06</a:t>
            </a:r>
            <a:endParaRPr lang="en-US" sz="3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91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200" kern="0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2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110916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118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Problema e Escopo da Solução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417320"/>
            <a:ext cx="5486400" cy="4754880"/>
          </a:xfrm>
          <a:prstGeom prst="roundRect">
            <a:avLst>
              <a:gd name="adj" fmla="val 1538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68680" y="1627632"/>
            <a:ext cx="146304" cy="146304"/>
          </a:xfrm>
          <a:prstGeom prst="ellipse">
            <a:avLst/>
          </a:prstGeom>
          <a:solidFill>
            <a:srgbClr val="EF4444"/>
          </a:solidFill>
          <a:ln/>
        </p:spPr>
      </p:sp>
      <p:sp>
        <p:nvSpPr>
          <p:cNvPr id="6" name="Text 4"/>
          <p:cNvSpPr/>
          <p:nvPr/>
        </p:nvSpPr>
        <p:spPr>
          <a:xfrm>
            <a:off x="1115568" y="1572768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100" kern="0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PROBLEMA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868680" y="2057400"/>
            <a:ext cx="4846320" cy="3931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25000"/>
              </a:lnSpc>
              <a:spcAft>
                <a:spcPts val="1400"/>
              </a:spcAft>
              <a:buSzPct val="100000"/>
              <a:buChar char="●"/>
            </a:pPr>
            <a:r>
              <a:rPr lang="en-US" sz="145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Conceitos de banco de dados e qualidade de software costumam ser ensinados de forma abstrata, dificultando a fixação prática.</a:t>
            </a:r>
            <a:endParaRPr lang="en-US" sz="1450" dirty="0"/>
          </a:p>
          <a:p>
            <a:pPr marL="342900" indent="-342900">
              <a:lnSpc>
                <a:spcPct val="125000"/>
              </a:lnSpc>
              <a:spcAft>
                <a:spcPts val="1400"/>
              </a:spcAft>
              <a:buSzPct val="100000"/>
              <a:buChar char="●"/>
            </a:pPr>
            <a:r>
              <a:rPr lang="en-US" sz="145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Falta demonstrar, de forma visual, o ciclo completo de um dado real: da entrada no sistema até a persistência em nuvem.</a:t>
            </a:r>
            <a:endParaRPr lang="en-US" sz="1450" dirty="0"/>
          </a:p>
          <a:p>
            <a:pPr marL="342900" indent="-342900">
              <a:lnSpc>
                <a:spcPct val="125000"/>
              </a:lnSpc>
              <a:buSzPct val="100000"/>
              <a:buChar char="●"/>
            </a:pPr>
            <a:r>
              <a:rPr lang="en-US" sz="145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Necessidade de um projeto acadêmico que una interface, lógica de simulação e banco de dados relacional em produção.</a:t>
            </a:r>
            <a:endParaRPr lang="en-US" sz="1450" dirty="0"/>
          </a:p>
        </p:txBody>
      </p:sp>
      <p:sp>
        <p:nvSpPr>
          <p:cNvPr id="8" name="Shape 6"/>
          <p:cNvSpPr/>
          <p:nvPr/>
        </p:nvSpPr>
        <p:spPr>
          <a:xfrm>
            <a:off x="6263640" y="1417320"/>
            <a:ext cx="5394960" cy="4754880"/>
          </a:xfrm>
          <a:prstGeom prst="roundRect">
            <a:avLst>
              <a:gd name="adj" fmla="val 1538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583680" y="1627632"/>
            <a:ext cx="146304" cy="146304"/>
          </a:xfrm>
          <a:prstGeom prst="ellipse">
            <a:avLst/>
          </a:prstGeom>
          <a:solidFill>
            <a:srgbClr val="15803D"/>
          </a:solidFill>
          <a:ln/>
        </p:spPr>
      </p:sp>
      <p:sp>
        <p:nvSpPr>
          <p:cNvPr id="10" name="Text 8"/>
          <p:cNvSpPr/>
          <p:nvPr/>
        </p:nvSpPr>
        <p:spPr>
          <a:xfrm>
            <a:off x="6830568" y="1572768"/>
            <a:ext cx="4846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100" kern="0" dirty="0">
                <a:solidFill>
                  <a:srgbClr val="158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ESCOPO DA SOLUÇÃO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6583680" y="2057400"/>
            <a:ext cx="4846320" cy="3931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20000"/>
              </a:lnSpc>
              <a:spcAft>
                <a:spcPts val="1200"/>
              </a:spcAft>
              <a:buSzPct val="100000"/>
              <a:buChar char="●"/>
            </a:pPr>
            <a:r>
              <a:rPr lang="en-US" sz="145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Sistema web acadêmico em HTML5, CSS3 e JavaScript puro (ES Modules), sem frameworks.</a:t>
            </a:r>
            <a:endParaRPr lang="en-US" sz="1450" dirty="0"/>
          </a:p>
          <a:p>
            <a:pPr marL="342900" indent="-342900">
              <a:lnSpc>
                <a:spcPct val="120000"/>
              </a:lnSpc>
              <a:spcAft>
                <a:spcPts val="1200"/>
              </a:spcAft>
              <a:buSzPct val="100000"/>
              <a:buChar char="●"/>
            </a:pPr>
            <a:r>
              <a:rPr lang="en-US" sz="145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Simulação de um estacionamento com 8 vagas: entrada, permanência e saída de veículos.</a:t>
            </a:r>
            <a:endParaRPr lang="en-US" sz="1450" dirty="0"/>
          </a:p>
          <a:p>
            <a:pPr marL="342900" indent="-342900">
              <a:lnSpc>
                <a:spcPct val="120000"/>
              </a:lnSpc>
              <a:spcAft>
                <a:spcPts val="1200"/>
              </a:spcAft>
              <a:buSzPct val="100000"/>
              <a:buChar char="●"/>
            </a:pPr>
            <a:r>
              <a:rPr lang="en-US" sz="145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Persistência real em nuvem via Supabase / PostgreSQL, com autenticação de administrador.</a:t>
            </a:r>
            <a:endParaRPr lang="en-US" sz="1450" dirty="0"/>
          </a:p>
          <a:p>
            <a:pPr marL="342900" indent="-342900">
              <a:lnSpc>
                <a:spcPct val="120000"/>
              </a:lnSpc>
              <a:buSzPct val="100000"/>
              <a:buChar char="●"/>
            </a:pPr>
            <a:r>
              <a:rPr lang="en-US" sz="1450" i="1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Fora do escopo: aplicativo mobile, múltiplos estacionamentos e cobrança/pagamento.</a:t>
            </a:r>
            <a:endParaRPr lang="en-US" sz="1450" dirty="0"/>
          </a:p>
        </p:txBody>
      </p:sp>
      <p:sp>
        <p:nvSpPr>
          <p:cNvPr id="12" name="Text 10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UNA Barreiro — Gestão e Qualidade de Software | ParkSim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11365992" y="647395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91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200" kern="0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3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110916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F1F5F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Requisitos Funcionais e Fluxo Crítico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4173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REQUISITOS FUNCIONAIS (RF)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48640" y="1783080"/>
            <a:ext cx="557784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25000"/>
              </a:lnSpc>
              <a:spcAft>
                <a:spcPts val="1000"/>
              </a:spcAft>
              <a:buSzPct val="100000"/>
              <a:buChar char="●"/>
            </a:pPr>
            <a:r>
              <a:rPr lang="en-US" sz="14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Simular entrada de veículo com placa aleatória e cor variada</a:t>
            </a:r>
            <a:endParaRPr lang="en-US" sz="1400" dirty="0"/>
          </a:p>
          <a:p>
            <a:pPr marL="342900" indent="-342900">
              <a:lnSpc>
                <a:spcPct val="125000"/>
              </a:lnSpc>
              <a:spcAft>
                <a:spcPts val="1000"/>
              </a:spcAft>
              <a:buSzPct val="100000"/>
              <a:buChar char="●"/>
            </a:pPr>
            <a:r>
              <a:rPr lang="en-US" sz="14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Controlar simulação: Iniciar, Pausar e Reiniciar</a:t>
            </a:r>
            <a:endParaRPr lang="en-US" sz="1400" dirty="0"/>
          </a:p>
          <a:p>
            <a:pPr marL="342900" indent="-342900">
              <a:lnSpc>
                <a:spcPct val="125000"/>
              </a:lnSpc>
              <a:spcAft>
                <a:spcPts val="1000"/>
              </a:spcAft>
              <a:buSzPct val="100000"/>
              <a:buChar char="●"/>
            </a:pPr>
            <a:r>
              <a:rPr lang="en-US" sz="14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Ajustar velocidade da simulação: 1x, 2x ou 3x</a:t>
            </a:r>
            <a:endParaRPr lang="en-US" sz="1400" dirty="0"/>
          </a:p>
          <a:p>
            <a:pPr marL="342900" indent="-342900">
              <a:lnSpc>
                <a:spcPct val="125000"/>
              </a:lnSpc>
              <a:spcAft>
                <a:spcPts val="1000"/>
              </a:spcAft>
              <a:buSzPct val="100000"/>
              <a:buChar char="●"/>
            </a:pPr>
            <a:r>
              <a:rPr lang="en-US" sz="14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Registrar entrada/saída no banco em tempo real</a:t>
            </a:r>
            <a:endParaRPr lang="en-US" sz="1400" dirty="0"/>
          </a:p>
          <a:p>
            <a:pPr marL="342900" indent="-342900">
              <a:lnSpc>
                <a:spcPct val="125000"/>
              </a:lnSpc>
              <a:spcAft>
                <a:spcPts val="1000"/>
              </a:spcAft>
              <a:buSzPct val="100000"/>
              <a:buChar char="●"/>
            </a:pPr>
            <a:r>
              <a:rPr lang="en-US" sz="14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Exibir relatório administrativo e exportar em PDF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548640" y="52578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FLUXO CRÍTICO DO USUÁRIO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548640" y="5623560"/>
            <a:ext cx="1691640" cy="777240"/>
          </a:xfrm>
          <a:prstGeom prst="roundRect">
            <a:avLst>
              <a:gd name="adj" fmla="val 7059"/>
            </a:avLst>
          </a:prstGeom>
          <a:solidFill>
            <a:srgbClr val="141B2E"/>
          </a:solidFill>
          <a:ln w="19050">
            <a:solidFill>
              <a:srgbClr val="22C55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48640" y="5623560"/>
            <a:ext cx="1691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Veículo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entra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2240280" y="5623560"/>
            <a:ext cx="25603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2496312" y="5623560"/>
            <a:ext cx="1691640" cy="777240"/>
          </a:xfrm>
          <a:prstGeom prst="roundRect">
            <a:avLst>
              <a:gd name="adj" fmla="val 7059"/>
            </a:avLst>
          </a:prstGeom>
          <a:solidFill>
            <a:srgbClr val="141B2E"/>
          </a:solidFill>
          <a:ln w="19050">
            <a:solidFill>
              <a:srgbClr val="3B82F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496312" y="5623560"/>
            <a:ext cx="1691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INSERT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4187952" y="5623560"/>
            <a:ext cx="25603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4443984" y="5623560"/>
            <a:ext cx="1691640" cy="777240"/>
          </a:xfrm>
          <a:prstGeom prst="roundRect">
            <a:avLst>
              <a:gd name="adj" fmla="val 7059"/>
            </a:avLst>
          </a:prstGeom>
          <a:solidFill>
            <a:srgbClr val="141B2E"/>
          </a:solidFill>
          <a:ln w="19050">
            <a:solidFill>
              <a:srgbClr val="22C55E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443984" y="5623560"/>
            <a:ext cx="1691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Estaciona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6135624" y="5623560"/>
            <a:ext cx="25603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6391656" y="5623560"/>
            <a:ext cx="1691640" cy="777240"/>
          </a:xfrm>
          <a:prstGeom prst="roundRect">
            <a:avLst>
              <a:gd name="adj" fmla="val 7059"/>
            </a:avLst>
          </a:prstGeom>
          <a:solidFill>
            <a:srgbClr val="141B2E"/>
          </a:solidFill>
          <a:ln w="19050">
            <a:solidFill>
              <a:srgbClr val="3B82F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391656" y="5623560"/>
            <a:ext cx="1691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UPDATE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saída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8083296" y="5623560"/>
            <a:ext cx="25603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8339328" y="5623560"/>
            <a:ext cx="1691640" cy="777240"/>
          </a:xfrm>
          <a:prstGeom prst="roundRect">
            <a:avLst>
              <a:gd name="adj" fmla="val 7059"/>
            </a:avLst>
          </a:prstGeom>
          <a:solidFill>
            <a:srgbClr val="141B2E"/>
          </a:solidFill>
          <a:ln w="19050">
            <a:solidFill>
              <a:srgbClr val="EF4444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339328" y="5623560"/>
            <a:ext cx="1691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TRIGGER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calcula tempo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10030968" y="5623560"/>
            <a:ext cx="25603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10287000" y="5623560"/>
            <a:ext cx="1691640" cy="777240"/>
          </a:xfrm>
          <a:prstGeom prst="roundRect">
            <a:avLst>
              <a:gd name="adj" fmla="val 7059"/>
            </a:avLst>
          </a:prstGeom>
          <a:solidFill>
            <a:srgbClr val="141B2E"/>
          </a:solidFill>
          <a:ln w="19050">
            <a:solidFill>
              <a:srgbClr val="22C55E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0287000" y="5623560"/>
            <a:ext cx="1691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Relatório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 PDF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6537960" y="1417320"/>
            <a:ext cx="5120640" cy="3566160"/>
          </a:xfrm>
          <a:prstGeom prst="roundRect">
            <a:avLst>
              <a:gd name="adj" fmla="val 2051"/>
            </a:avLst>
          </a:prstGeom>
          <a:solidFill>
            <a:srgbClr val="141B2E"/>
          </a:solidFill>
          <a:ln w="12700">
            <a:solidFill>
              <a:srgbClr val="23304A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812280" y="160020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CAMINHO DO DADO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6812280" y="1965960"/>
            <a:ext cx="4572000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20000"/>
              </a:lnSpc>
              <a:spcAft>
                <a:spcPts val="1000"/>
              </a:spcAft>
              <a:buSzPct val="100000"/>
              <a:buChar char="●"/>
            </a:pPr>
            <a:r>
              <a:rPr lang="en-US" sz="12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app.js orquestra o evento de entrada/saída da simulação.</a:t>
            </a:r>
            <a:endParaRPr lang="en-US" sz="1250" dirty="0"/>
          </a:p>
          <a:p>
            <a:pPr marL="342900" indent="-342900">
              <a:lnSpc>
                <a:spcPct val="120000"/>
              </a:lnSpc>
              <a:spcAft>
                <a:spcPts val="1000"/>
              </a:spcAft>
              <a:buSzPct val="100000"/>
              <a:buChar char="●"/>
            </a:pPr>
            <a:r>
              <a:rPr lang="en-US" sz="12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banco.js grava no Supabase via INSERT/UPDATE.</a:t>
            </a:r>
            <a:endParaRPr lang="en-US" sz="1250" dirty="0"/>
          </a:p>
          <a:p>
            <a:pPr marL="342900" indent="-342900">
              <a:lnSpc>
                <a:spcPct val="120000"/>
              </a:lnSpc>
              <a:spcAft>
                <a:spcPts val="1000"/>
              </a:spcAft>
              <a:buSzPct val="100000"/>
              <a:buChar char="●"/>
            </a:pPr>
            <a:r>
              <a:rPr lang="en-US" sz="12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Uma TRIGGER no PostgreSQL calcula o tempo de permanência.</a:t>
            </a:r>
            <a:endParaRPr lang="en-US" sz="1250" dirty="0"/>
          </a:p>
          <a:p>
            <a:pPr marL="342900" indent="-342900">
              <a:lnSpc>
                <a:spcPct val="120000"/>
              </a:lnSpc>
              <a:buSzPct val="100000"/>
              <a:buChar char="●"/>
            </a:pPr>
            <a:r>
              <a:rPr lang="en-US" sz="12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ui.js atualiza tabela, cards e gera o PDF final.</a:t>
            </a:r>
            <a:endParaRPr lang="en-US" sz="1250" dirty="0"/>
          </a:p>
        </p:txBody>
      </p:sp>
      <p:sp>
        <p:nvSpPr>
          <p:cNvPr id="27" name="Text 25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UNA Barreiro — Gestão e Qualidade de Software | ParkSim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11365992" y="647395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91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200" kern="0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4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110916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118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Requisitos Não Funcionais e Metas de Qualidade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170432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Baseado na ISO/IEC 25010 — SLA, performance e segurança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48640" y="1691640"/>
            <a:ext cx="3611880" cy="1965960"/>
          </a:xfrm>
          <a:prstGeom prst="roundRect">
            <a:avLst>
              <a:gd name="adj" fmla="val 3721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77240" y="1920240"/>
            <a:ext cx="411480" cy="411480"/>
          </a:xfrm>
          <a:prstGeom prst="ellipse">
            <a:avLst/>
          </a:prstGeom>
          <a:solidFill>
            <a:srgbClr val="15803D"/>
          </a:solidFill>
          <a:ln/>
        </p:spPr>
      </p:sp>
      <p:sp>
        <p:nvSpPr>
          <p:cNvPr id="7" name="Text 5"/>
          <p:cNvSpPr/>
          <p:nvPr/>
        </p:nvSpPr>
        <p:spPr>
          <a:xfrm>
            <a:off x="777240" y="2441448"/>
            <a:ext cx="3154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Usabilidade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777240" y="2770632"/>
            <a:ext cx="31546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Layout responsivo de 320px a 1440px+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4389120" y="1691640"/>
            <a:ext cx="3611880" cy="1965960"/>
          </a:xfrm>
          <a:prstGeom prst="roundRect">
            <a:avLst>
              <a:gd name="adj" fmla="val 3721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617720" y="1920240"/>
            <a:ext cx="411480" cy="411480"/>
          </a:xfrm>
          <a:prstGeom prst="ellipse">
            <a:avLst/>
          </a:prstGeom>
          <a:solidFill>
            <a:srgbClr val="1D4ED8"/>
          </a:solidFill>
          <a:ln/>
        </p:spPr>
      </p:sp>
      <p:sp>
        <p:nvSpPr>
          <p:cNvPr id="11" name="Text 9"/>
          <p:cNvSpPr/>
          <p:nvPr/>
        </p:nvSpPr>
        <p:spPr>
          <a:xfrm>
            <a:off x="4617720" y="2441448"/>
            <a:ext cx="3154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Desempenho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4617720" y="2770632"/>
            <a:ext cx="31546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Animações via transform/opacity; tabela limitada a 50 linhas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8229600" y="1691640"/>
            <a:ext cx="3611880" cy="1965960"/>
          </a:xfrm>
          <a:prstGeom prst="roundRect">
            <a:avLst>
              <a:gd name="adj" fmla="val 3721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8458200" y="1920240"/>
            <a:ext cx="411480" cy="411480"/>
          </a:xfrm>
          <a:prstGeom prst="ellipse">
            <a:avLst/>
          </a:prstGeom>
          <a:solidFill>
            <a:srgbClr val="EF4444"/>
          </a:solidFill>
          <a:ln/>
        </p:spPr>
      </p:sp>
      <p:sp>
        <p:nvSpPr>
          <p:cNvPr id="15" name="Text 13"/>
          <p:cNvSpPr/>
          <p:nvPr/>
        </p:nvSpPr>
        <p:spPr>
          <a:xfrm>
            <a:off x="8458200" y="2441448"/>
            <a:ext cx="3154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Segurança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8458200" y="2770632"/>
            <a:ext cx="31546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Autenticação via Supabase Auth + Row Level Security (RLS)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548640" y="3886200"/>
            <a:ext cx="3611880" cy="1965960"/>
          </a:xfrm>
          <a:prstGeom prst="roundRect">
            <a:avLst>
              <a:gd name="adj" fmla="val 3721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777240" y="4114800"/>
            <a:ext cx="411480" cy="411480"/>
          </a:xfrm>
          <a:prstGeom prst="ellipse">
            <a:avLst/>
          </a:prstGeom>
          <a:solidFill>
            <a:srgbClr val="15803D"/>
          </a:solidFill>
          <a:ln/>
        </p:spPr>
      </p:sp>
      <p:sp>
        <p:nvSpPr>
          <p:cNvPr id="19" name="Text 17"/>
          <p:cNvSpPr/>
          <p:nvPr/>
        </p:nvSpPr>
        <p:spPr>
          <a:xfrm>
            <a:off x="777240" y="4636008"/>
            <a:ext cx="3154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Disponibilidade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777240" y="4965192"/>
            <a:ext cx="31546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Persistência gerenciada em nuvem (Supabase / PostgreSQL)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4389120" y="3886200"/>
            <a:ext cx="3611880" cy="1965960"/>
          </a:xfrm>
          <a:prstGeom prst="roundRect">
            <a:avLst>
              <a:gd name="adj" fmla="val 3721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617720" y="4114800"/>
            <a:ext cx="411480" cy="411480"/>
          </a:xfrm>
          <a:prstGeom prst="ellipse">
            <a:avLst/>
          </a:prstGeom>
          <a:solidFill>
            <a:srgbClr val="1D4ED8"/>
          </a:solidFill>
          <a:ln/>
        </p:spPr>
      </p:sp>
      <p:sp>
        <p:nvSpPr>
          <p:cNvPr id="23" name="Text 21"/>
          <p:cNvSpPr/>
          <p:nvPr/>
        </p:nvSpPr>
        <p:spPr>
          <a:xfrm>
            <a:off x="4617720" y="4636008"/>
            <a:ext cx="3154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Manutenibilidade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4617720" y="4965192"/>
            <a:ext cx="31546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Módulos JS separados por responsabilidade (SoC)</a:t>
            </a:r>
            <a:endParaRPr lang="en-US" sz="1150" dirty="0"/>
          </a:p>
        </p:txBody>
      </p:sp>
      <p:sp>
        <p:nvSpPr>
          <p:cNvPr id="25" name="Shape 23"/>
          <p:cNvSpPr/>
          <p:nvPr/>
        </p:nvSpPr>
        <p:spPr>
          <a:xfrm>
            <a:off x="8229600" y="3886200"/>
            <a:ext cx="3611880" cy="1965960"/>
          </a:xfrm>
          <a:prstGeom prst="roundRect">
            <a:avLst>
              <a:gd name="adj" fmla="val 3721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8458200" y="4114800"/>
            <a:ext cx="411480" cy="411480"/>
          </a:xfrm>
          <a:prstGeom prst="ellipse">
            <a:avLst/>
          </a:prstGeom>
          <a:solidFill>
            <a:srgbClr val="EF4444"/>
          </a:solidFill>
          <a:ln/>
        </p:spPr>
      </p:sp>
      <p:sp>
        <p:nvSpPr>
          <p:cNvPr id="27" name="Text 25"/>
          <p:cNvSpPr/>
          <p:nvPr/>
        </p:nvSpPr>
        <p:spPr>
          <a:xfrm>
            <a:off x="8458200" y="4636008"/>
            <a:ext cx="3154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LGPD</a:t>
            </a:r>
            <a:endParaRPr lang="en-US" sz="1500" dirty="0"/>
          </a:p>
        </p:txBody>
      </p:sp>
      <p:sp>
        <p:nvSpPr>
          <p:cNvPr id="28" name="Text 26"/>
          <p:cNvSpPr/>
          <p:nvPr/>
        </p:nvSpPr>
        <p:spPr>
          <a:xfrm>
            <a:off x="8458200" y="4965192"/>
            <a:ext cx="31546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Armazena apenas placa, cor e horários — sem dados pessoais sensíveis</a:t>
            </a:r>
            <a:endParaRPr lang="en-US" sz="1150" dirty="0"/>
          </a:p>
        </p:txBody>
      </p:sp>
      <p:sp>
        <p:nvSpPr>
          <p:cNvPr id="29" name="Text 27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UNA Barreiro — Gestão e Qualidade de Software | ParkSim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11365992" y="647395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91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200" kern="0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5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110916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F1F5F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Arquitetura de Dados (DER / Modelo Conceitual)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508760"/>
            <a:ext cx="2651760" cy="457200"/>
          </a:xfrm>
          <a:prstGeom prst="roundRect">
            <a:avLst>
              <a:gd name="adj" fmla="val 10000"/>
            </a:avLst>
          </a:prstGeom>
          <a:solidFill>
            <a:srgbClr val="3B82F6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508760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ADMINISTRADOR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548640" y="1965960"/>
            <a:ext cx="2651760" cy="941832"/>
          </a:xfrm>
          <a:prstGeom prst="roundRect">
            <a:avLst>
              <a:gd name="adj" fmla="val 1942"/>
            </a:avLst>
          </a:prstGeom>
          <a:solidFill>
            <a:srgbClr val="141B2E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85800" y="2039112"/>
            <a:ext cx="237744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F1F5F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email (auth)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F1F5F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senha (auth)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F1F5F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acesso: relatório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4709160" y="1508760"/>
            <a:ext cx="2743200" cy="457200"/>
          </a:xfrm>
          <a:prstGeom prst="roundRect">
            <a:avLst>
              <a:gd name="adj" fmla="val 10000"/>
            </a:avLst>
          </a:prstGeom>
          <a:solidFill>
            <a:srgbClr val="22C55E"/>
          </a:solidFill>
          <a:ln/>
        </p:spPr>
      </p:sp>
      <p:sp>
        <p:nvSpPr>
          <p:cNvPr id="9" name="Text 7"/>
          <p:cNvSpPr/>
          <p:nvPr/>
        </p:nvSpPr>
        <p:spPr>
          <a:xfrm>
            <a:off x="4709160" y="150876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MOVIMENTACAO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709160" y="1965960"/>
            <a:ext cx="2743200" cy="2532888"/>
          </a:xfrm>
          <a:prstGeom prst="roundRect">
            <a:avLst>
              <a:gd name="adj" fmla="val 722"/>
            </a:avLst>
          </a:prstGeom>
          <a:solidFill>
            <a:srgbClr val="141B2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846320" y="2039112"/>
            <a:ext cx="2468880" cy="2395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F1F5F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id BIGINT (PK)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F1F5F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sessao INT (FK)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F1F5F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placa TEXT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F1F5F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cor TEXT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F1F5F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vaga INT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F1F5F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hora_entrada TIMESTAMPTZ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F1F5F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hora_saida TIMESTAMPTZ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F1F5F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tempo_minutos INT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F1F5F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status TEXT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8915400" y="1508760"/>
            <a:ext cx="2651760" cy="457200"/>
          </a:xfrm>
          <a:prstGeom prst="roundRect">
            <a:avLst>
              <a:gd name="adj" fmla="val 10000"/>
            </a:avLst>
          </a:prstGeom>
          <a:solidFill>
            <a:srgbClr val="EF4444"/>
          </a:solidFill>
          <a:ln/>
        </p:spPr>
      </p:sp>
      <p:sp>
        <p:nvSpPr>
          <p:cNvPr id="13" name="Text 11"/>
          <p:cNvSpPr/>
          <p:nvPr/>
        </p:nvSpPr>
        <p:spPr>
          <a:xfrm>
            <a:off x="8915400" y="1508760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SESSAO_SIMULACAO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8915400" y="1965960"/>
            <a:ext cx="2651760" cy="941832"/>
          </a:xfrm>
          <a:prstGeom prst="roundRect">
            <a:avLst>
              <a:gd name="adj" fmla="val 1942"/>
            </a:avLst>
          </a:prstGeom>
          <a:solidFill>
            <a:srgbClr val="141B2E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9052560" y="2039112"/>
            <a:ext cx="237744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F1F5F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sessao INT (PK)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F1F5F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criada_em (implícita)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F1F5F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 sessão ativa por vez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3200400" y="1737360"/>
            <a:ext cx="1508760" cy="0"/>
          </a:xfrm>
          <a:prstGeom prst="line">
            <a:avLst/>
          </a:prstGeom>
          <a:noFill/>
          <a:ln w="12700">
            <a:solidFill>
              <a:srgbClr val="94A3B8"/>
            </a:solidFill>
            <a:prstDash val="dash"/>
          </a:ln>
        </p:spPr>
      </p:sp>
      <p:sp>
        <p:nvSpPr>
          <p:cNvPr id="17" name="Text 15"/>
          <p:cNvSpPr/>
          <p:nvPr/>
        </p:nvSpPr>
        <p:spPr>
          <a:xfrm>
            <a:off x="3200400" y="1417320"/>
            <a:ext cx="1508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consulta via login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7452360" y="1737360"/>
            <a:ext cx="1463040" cy="0"/>
          </a:xfrm>
          <a:prstGeom prst="line">
            <a:avLst/>
          </a:prstGeom>
          <a:noFill/>
          <a:ln w="12700">
            <a:solidFill>
              <a:srgbClr val="94A3B8"/>
            </a:solidFill>
            <a:prstDash val="dash"/>
          </a:ln>
        </p:spPr>
      </p:sp>
      <p:sp>
        <p:nvSpPr>
          <p:cNvPr id="19" name="Text 17"/>
          <p:cNvSpPr/>
          <p:nvPr/>
        </p:nvSpPr>
        <p:spPr>
          <a:xfrm>
            <a:off x="7452360" y="141732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 :  N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548640" y="4892040"/>
            <a:ext cx="11064240" cy="1325880"/>
          </a:xfrm>
          <a:prstGeom prst="roundRect">
            <a:avLst>
              <a:gd name="adj" fmla="val 5517"/>
            </a:avLst>
          </a:prstGeom>
          <a:solidFill>
            <a:srgbClr val="141B2E"/>
          </a:solidFill>
          <a:ln w="12700">
            <a:solidFill>
              <a:srgbClr val="23304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22960" y="502920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projeto real, a tabela persistida no PostgreSQL é </a:t>
            </a:r>
            <a:pPr indent="0" marL="0">
              <a:buNone/>
            </a:pPr>
            <a:r>
              <a:rPr lang="en-US" sz="1300" b="1" dirty="0">
                <a:solidFill>
                  <a:srgbClr val="22C55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movimentacoes</a:t>
            </a:r>
            <a:pPr indent="0" marL="0">
              <a:buNone/>
            </a:pPr>
            <a:r>
              <a:rPr lang="en-US" sz="13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que concentra todos os campos do domínio.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822960" y="5440680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Relacionamento: cada Sessão possui N Movimentações (1:N) • o Administrador autentica via Supabase Auth para liberar o SELECT do relatório.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UNA Barreiro — Gestão e Qualidade de Software | ParkSim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11365992" y="647395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91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200" kern="0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6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110916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118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Módulos do Sistema e Regras de Negócio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800600" y="2948940"/>
            <a:ext cx="1737360" cy="777240"/>
          </a:xfrm>
          <a:prstGeom prst="roundRect">
            <a:avLst>
              <a:gd name="adj" fmla="val 9412"/>
            </a:avLst>
          </a:prstGeom>
          <a:solidFill>
            <a:srgbClr val="22C55E"/>
          </a:solidFill>
          <a:ln/>
        </p:spPr>
      </p:sp>
      <p:sp>
        <p:nvSpPr>
          <p:cNvPr id="5" name="Text 3"/>
          <p:cNvSpPr/>
          <p:nvPr/>
        </p:nvSpPr>
        <p:spPr>
          <a:xfrm>
            <a:off x="4800600" y="2948940"/>
            <a:ext cx="1737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app.js</a:t>
            </a:r>
            <a:endParaRPr lang="en-US" sz="1250" dirty="0"/>
          </a:p>
          <a:p>
            <a:pPr algn="ctr" indent="0" marL="0">
              <a:buNone/>
            </a:pPr>
            <a:r>
              <a:rPr lang="en-US" sz="1250" b="1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(orquestrador)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4297680" y="2423160"/>
            <a:ext cx="502920" cy="525780"/>
          </a:xfrm>
          <a:prstGeom prst="line">
            <a:avLst/>
          </a:prstGeom>
          <a:noFill/>
          <a:ln w="19050">
            <a:solidFill>
              <a:srgbClr val="CBD5E1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537960" y="2423160"/>
            <a:ext cx="1051560" cy="525780"/>
          </a:xfrm>
          <a:prstGeom prst="line">
            <a:avLst/>
          </a:prstGeom>
          <a:noFill/>
          <a:ln w="19050">
            <a:solidFill>
              <a:srgbClr val="CBD5E1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 flipV="1">
            <a:off x="4297680" y="3726180"/>
            <a:ext cx="502920" cy="525780"/>
          </a:xfrm>
          <a:prstGeom prst="line">
            <a:avLst/>
          </a:prstGeom>
          <a:noFill/>
          <a:ln w="19050">
            <a:solidFill>
              <a:srgbClr val="CBD5E1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 flipV="1">
            <a:off x="6537960" y="3726180"/>
            <a:ext cx="1051560" cy="525780"/>
          </a:xfrm>
          <a:prstGeom prst="line">
            <a:avLst/>
          </a:prstGeom>
          <a:noFill/>
          <a:ln w="19050">
            <a:solidFill>
              <a:srgbClr val="CBD5E1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548640" y="1371600"/>
            <a:ext cx="3749040" cy="1051560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 w="16510">
            <a:solidFill>
              <a:srgbClr val="3B82F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31520" y="1481328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D4E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simulacao.js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731520" y="1828800"/>
            <a:ext cx="3383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Motor: iniciar(), pausar(), reiniciar(), setVelocidade()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7589520" y="1371600"/>
            <a:ext cx="3749040" cy="1051560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 w="16510">
            <a:solidFill>
              <a:srgbClr val="3B82F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772400" y="1481328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D4E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ui.js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7772400" y="1828800"/>
            <a:ext cx="3383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DOM, animações, relatório e exportarPDF()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548640" y="4251960"/>
            <a:ext cx="3749040" cy="1051560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 w="16510">
            <a:solidFill>
              <a:srgbClr val="3B82F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31520" y="4361688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D4E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banco.js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731520" y="4709160"/>
            <a:ext cx="3383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registrarEntrada(), registrarSaida(), login()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7589520" y="4251960"/>
            <a:ext cx="3749040" cy="1051560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 w="16510">
            <a:solidFill>
              <a:srgbClr val="3B82F6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772400" y="4361688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D4E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supabase.js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7772400" y="4709160"/>
            <a:ext cx="3383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Cria o client do Supabase (config.js)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548640" y="5440680"/>
            <a:ext cx="11064240" cy="713232"/>
          </a:xfrm>
          <a:prstGeom prst="roundRect">
            <a:avLst>
              <a:gd name="adj" fmla="val 7692"/>
            </a:avLst>
          </a:prstGeom>
          <a:solidFill>
            <a:srgbClr val="141B2E"/>
          </a:solidFill>
          <a:ln/>
        </p:spPr>
      </p:sp>
      <p:sp>
        <p:nvSpPr>
          <p:cNvPr id="23" name="Text 21"/>
          <p:cNvSpPr/>
          <p:nvPr/>
        </p:nvSpPr>
        <p:spPr>
          <a:xfrm>
            <a:off x="822960" y="5440680"/>
            <a:ext cx="105156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b="1" dirty="0">
                <a:solidFill>
                  <a:srgbClr val="22C55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config.js </a:t>
            </a:r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centraliza constantes (vagas, cores, tempos) usadas por todos os módulos.  </a:t>
            </a:r>
            <a:pPr indent="0" marL="0">
              <a:lnSpc>
                <a:spcPct val="115000"/>
              </a:lnSpc>
              <a:buNone/>
            </a:pPr>
            <a:r>
              <a:rPr lang="en-US" sz="11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Regra de negócio: </a:t>
            </a:r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vaga = 1 carro por vez; reiniciar apaga os dados e inicia nova sessão.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UNA Barreiro — Gestão e Qualidade de Software | ParkSim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11365992" y="647395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91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200" kern="0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7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110916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F1F5F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Pipeline de Desenvolvimento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417320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2C55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REPOSITÓRIO: gqs-lista-03-analis-req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822960" y="2834640"/>
            <a:ext cx="9418320" cy="0"/>
          </a:xfrm>
          <a:prstGeom prst="line">
            <a:avLst/>
          </a:prstGeom>
          <a:noFill/>
          <a:ln w="31750">
            <a:solidFill>
              <a:srgbClr val="94A3B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22960" y="2944368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 (protegida)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2103120" y="2103120"/>
            <a:ext cx="0" cy="731520"/>
          </a:xfrm>
          <a:prstGeom prst="line">
            <a:avLst/>
          </a:prstGeom>
          <a:noFill/>
          <a:ln w="25400">
            <a:solidFill>
              <a:srgbClr val="22C55E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2048256" y="2048256"/>
            <a:ext cx="109728" cy="109728"/>
          </a:xfrm>
          <a:prstGeom prst="ellipse">
            <a:avLst/>
          </a:prstGeom>
          <a:solidFill>
            <a:srgbClr val="22C55E"/>
          </a:solidFill>
          <a:ln/>
        </p:spPr>
      </p:sp>
      <p:sp>
        <p:nvSpPr>
          <p:cNvPr id="9" name="Text 7"/>
          <p:cNvSpPr/>
          <p:nvPr/>
        </p:nvSpPr>
        <p:spPr>
          <a:xfrm>
            <a:off x="1554480" y="1783080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2C55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feature/…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1874520" y="2450592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2048256" y="2779776"/>
            <a:ext cx="109728" cy="109728"/>
          </a:xfrm>
          <a:prstGeom prst="ellipse">
            <a:avLst/>
          </a:prstGeom>
          <a:solidFill>
            <a:srgbClr val="22C55E"/>
          </a:solidFill>
          <a:ln/>
        </p:spPr>
      </p:sp>
      <p:sp>
        <p:nvSpPr>
          <p:cNvPr id="12" name="Shape 10"/>
          <p:cNvSpPr/>
          <p:nvPr/>
        </p:nvSpPr>
        <p:spPr>
          <a:xfrm>
            <a:off x="4663440" y="2103120"/>
            <a:ext cx="0" cy="731520"/>
          </a:xfrm>
          <a:prstGeom prst="line">
            <a:avLst/>
          </a:prstGeom>
          <a:noFill/>
          <a:ln w="25400">
            <a:solidFill>
              <a:srgbClr val="3B82F6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608576" y="2048256"/>
            <a:ext cx="109728" cy="109728"/>
          </a:xfrm>
          <a:prstGeom prst="ellipse">
            <a:avLst/>
          </a:prstGeom>
          <a:solidFill>
            <a:srgbClr val="3B82F6"/>
          </a:solidFill>
          <a:ln/>
        </p:spPr>
      </p:sp>
      <p:sp>
        <p:nvSpPr>
          <p:cNvPr id="14" name="Text 12"/>
          <p:cNvSpPr/>
          <p:nvPr/>
        </p:nvSpPr>
        <p:spPr>
          <a:xfrm>
            <a:off x="4114800" y="1783080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3B82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fix/…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4434840" y="2450592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4608576" y="2779776"/>
            <a:ext cx="109728" cy="109728"/>
          </a:xfrm>
          <a:prstGeom prst="ellipse">
            <a:avLst/>
          </a:prstGeom>
          <a:solidFill>
            <a:srgbClr val="3B82F6"/>
          </a:solidFill>
          <a:ln/>
        </p:spPr>
      </p:sp>
      <p:sp>
        <p:nvSpPr>
          <p:cNvPr id="17" name="Shape 15"/>
          <p:cNvSpPr/>
          <p:nvPr/>
        </p:nvSpPr>
        <p:spPr>
          <a:xfrm>
            <a:off x="7223760" y="2103120"/>
            <a:ext cx="0" cy="731520"/>
          </a:xfrm>
          <a:prstGeom prst="line">
            <a:avLst/>
          </a:prstGeom>
          <a:noFill/>
          <a:ln w="25400">
            <a:solidFill>
              <a:srgbClr val="EF4444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7168896" y="2048256"/>
            <a:ext cx="109728" cy="109728"/>
          </a:xfrm>
          <a:prstGeom prst="ellipse">
            <a:avLst/>
          </a:prstGeom>
          <a:solidFill>
            <a:srgbClr val="EF4444"/>
          </a:solidFill>
          <a:ln/>
        </p:spPr>
      </p:sp>
      <p:sp>
        <p:nvSpPr>
          <p:cNvPr id="19" name="Text 17"/>
          <p:cNvSpPr/>
          <p:nvPr/>
        </p:nvSpPr>
        <p:spPr>
          <a:xfrm>
            <a:off x="6675120" y="1783080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EF444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docs/…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6995160" y="2450592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7168896" y="2779776"/>
            <a:ext cx="109728" cy="109728"/>
          </a:xfrm>
          <a:prstGeom prst="ellipse">
            <a:avLst/>
          </a:prstGeom>
          <a:solidFill>
            <a:srgbClr val="EF4444"/>
          </a:solidFill>
          <a:ln/>
        </p:spPr>
      </p:sp>
      <p:sp>
        <p:nvSpPr>
          <p:cNvPr id="22" name="Text 20"/>
          <p:cNvSpPr/>
          <p:nvPr/>
        </p:nvSpPr>
        <p:spPr>
          <a:xfrm>
            <a:off x="822960" y="3977640"/>
            <a:ext cx="969264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25000"/>
              </a:lnSpc>
              <a:spcAft>
                <a:spcPts val="900"/>
              </a:spcAft>
              <a:buSzPct val="100000"/>
              <a:buChar char="●"/>
            </a:pPr>
            <a:r>
              <a:rPr lang="en-US" sz="14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Flow com branch main sempre protegida e estável</a:t>
            </a:r>
            <a:endParaRPr lang="en-US" sz="1400" dirty="0"/>
          </a:p>
          <a:p>
            <a:pPr marL="342900" indent="-342900">
              <a:lnSpc>
                <a:spcPct val="125000"/>
              </a:lnSpc>
              <a:spcAft>
                <a:spcPts val="900"/>
              </a:spcAft>
              <a:buSzPct val="100000"/>
              <a:buChar char="●"/>
            </a:pPr>
            <a:r>
              <a:rPr lang="en-US" sz="14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Branches de trabalho: feature/, fix/ e docs/</a:t>
            </a:r>
            <a:endParaRPr lang="en-US" sz="1400" dirty="0"/>
          </a:p>
          <a:p>
            <a:pPr marL="342900" indent="-342900">
              <a:lnSpc>
                <a:spcPct val="125000"/>
              </a:lnSpc>
              <a:spcAft>
                <a:spcPts val="900"/>
              </a:spcAft>
              <a:buSzPct val="100000"/>
              <a:buChar char="●"/>
            </a:pPr>
            <a:r>
              <a:rPr lang="en-US" sz="14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Conventional Commits: feat, fix, docs, refactor</a:t>
            </a:r>
            <a:endParaRPr lang="en-US" sz="1400" dirty="0"/>
          </a:p>
          <a:p>
            <a:pPr marL="342900" indent="-342900">
              <a:lnSpc>
                <a:spcPct val="125000"/>
              </a:lnSpc>
              <a:spcAft>
                <a:spcPts val="900"/>
              </a:spcAft>
              <a:buSzPct val="100000"/>
              <a:buChar char="●"/>
            </a:pPr>
            <a:r>
              <a:rPr lang="en-US" sz="14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Pull Request com aprovação de ao menos 1 integrante</a:t>
            </a:r>
            <a:endParaRPr lang="en-US" sz="1400" dirty="0"/>
          </a:p>
          <a:p>
            <a:pPr marL="342900" indent="-342900">
              <a:lnSpc>
                <a:spcPct val="125000"/>
              </a:lnSpc>
              <a:spcAft>
                <a:spcPts val="900"/>
              </a:spcAft>
              <a:buSzPct val="100000"/>
              <a:buChar char="●"/>
            </a:pPr>
            <a:r>
              <a:rPr lang="en-US" sz="14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README documenta execução do projeto e finalidade dos arquivos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UNA Barreiro — Gestão e Qualidade de Software | ParkSim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11365992" y="647395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91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200" kern="0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8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110916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118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Estratégia de Testes e Validação de Qualidade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463040"/>
            <a:ext cx="5440680" cy="2148840"/>
          </a:xfrm>
          <a:prstGeom prst="roundRect">
            <a:avLst>
              <a:gd name="adj" fmla="val 3404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49808" y="1627632"/>
            <a:ext cx="146304" cy="146304"/>
          </a:xfrm>
          <a:prstGeom prst="ellipse">
            <a:avLst/>
          </a:prstGeom>
          <a:solidFill>
            <a:srgbClr val="15803D"/>
          </a:solidFill>
          <a:ln/>
        </p:spPr>
      </p:sp>
      <p:sp>
        <p:nvSpPr>
          <p:cNvPr id="6" name="Text 4"/>
          <p:cNvSpPr/>
          <p:nvPr/>
        </p:nvSpPr>
        <p:spPr>
          <a:xfrm>
            <a:off x="1005840" y="1554480"/>
            <a:ext cx="4800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Entrada e saída com cálculo automático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731520" y="1965960"/>
            <a:ext cx="507492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08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Entrada: </a:t>
            </a:r>
            <a:pPr indent="0" marL="0">
              <a:lnSpc>
                <a:spcPct val="125000"/>
              </a:lnSpc>
              <a:buNone/>
            </a:pPr>
            <a:r>
              <a:rPr lang="en-US" sz="108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Simulação em execução, vaga disponível
</a:t>
            </a:r>
            <a:pPr indent="0" marL="0">
              <a:lnSpc>
                <a:spcPct val="125000"/>
              </a:lnSpc>
              <a:buNone/>
            </a:pPr>
            <a:r>
              <a:rPr lang="en-US" sz="108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Passo a passo: </a:t>
            </a:r>
            <a:pPr indent="0" marL="0">
              <a:lnSpc>
                <a:spcPct val="125000"/>
              </a:lnSpc>
              <a:buNone/>
            </a:pPr>
            <a:r>
              <a:rPr lang="en-US" sz="108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Carro entra (INSERT) → permanece → sai (UPDATE)
</a:t>
            </a:r>
            <a:pPr indent="0" marL="0">
              <a:lnSpc>
                <a:spcPct val="125000"/>
              </a:lnSpc>
              <a:buNone/>
            </a:pPr>
            <a:r>
              <a:rPr lang="en-US" sz="108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Resultado esperado: </a:t>
            </a:r>
            <a:pPr indent="0" marL="0">
              <a:lnSpc>
                <a:spcPct val="125000"/>
              </a:lnSpc>
              <a:buNone/>
            </a:pPr>
            <a:r>
              <a:rPr lang="en-US" sz="108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TRIGGER preenche tempo_minutos automaticamente</a:t>
            </a:r>
            <a:endParaRPr lang="en-US" sz="1080" dirty="0"/>
          </a:p>
        </p:txBody>
      </p:sp>
      <p:sp>
        <p:nvSpPr>
          <p:cNvPr id="8" name="Shape 6"/>
          <p:cNvSpPr/>
          <p:nvPr/>
        </p:nvSpPr>
        <p:spPr>
          <a:xfrm>
            <a:off x="6172200" y="1463040"/>
            <a:ext cx="5440680" cy="2148840"/>
          </a:xfrm>
          <a:prstGeom prst="roundRect">
            <a:avLst>
              <a:gd name="adj" fmla="val 3404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373368" y="1627632"/>
            <a:ext cx="146304" cy="146304"/>
          </a:xfrm>
          <a:prstGeom prst="ellipse">
            <a:avLst/>
          </a:prstGeom>
          <a:solidFill>
            <a:srgbClr val="EF4444"/>
          </a:solidFill>
          <a:ln/>
        </p:spPr>
      </p:sp>
      <p:sp>
        <p:nvSpPr>
          <p:cNvPr id="10" name="Text 8"/>
          <p:cNvSpPr/>
          <p:nvPr/>
        </p:nvSpPr>
        <p:spPr>
          <a:xfrm>
            <a:off x="6629400" y="1554480"/>
            <a:ext cx="4800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Bloqueio e liberação do painel admin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6355080" y="1965960"/>
            <a:ext cx="507492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08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Entrada: </a:t>
            </a:r>
            <a:pPr indent="0" marL="0">
              <a:lnSpc>
                <a:spcPct val="125000"/>
              </a:lnSpc>
              <a:buNone/>
            </a:pPr>
            <a:r>
              <a:rPr lang="en-US" sz="108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Usuário sem sessão autenticada
</a:t>
            </a:r>
            <a:pPr indent="0" marL="0">
              <a:lnSpc>
                <a:spcPct val="125000"/>
              </a:lnSpc>
              <a:buNone/>
            </a:pPr>
            <a:r>
              <a:rPr lang="en-US" sz="108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Passo a passo: </a:t>
            </a:r>
            <a:pPr indent="0" marL="0">
              <a:lnSpc>
                <a:spcPct val="125000"/>
              </a:lnSpc>
              <a:buNone/>
            </a:pPr>
            <a:r>
              <a:rPr lang="en-US" sz="108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Abrir painel → tentar ver relatório → fazer login
</a:t>
            </a:r>
            <a:pPr indent="0" marL="0">
              <a:lnSpc>
                <a:spcPct val="125000"/>
              </a:lnSpc>
              <a:buNone/>
            </a:pPr>
            <a:r>
              <a:rPr lang="en-US" sz="108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Resultado esperado: </a:t>
            </a:r>
            <a:pPr indent="0" marL="0">
              <a:lnSpc>
                <a:spcPct val="125000"/>
              </a:lnSpc>
              <a:buNone/>
            </a:pPr>
            <a:r>
              <a:rPr lang="en-US" sz="108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Painel travado sem login; libera dados após Supabase Auth</a:t>
            </a:r>
            <a:endParaRPr lang="en-US" sz="1080" dirty="0"/>
          </a:p>
        </p:txBody>
      </p:sp>
      <p:sp>
        <p:nvSpPr>
          <p:cNvPr id="12" name="Shape 10"/>
          <p:cNvSpPr/>
          <p:nvPr/>
        </p:nvSpPr>
        <p:spPr>
          <a:xfrm>
            <a:off x="548640" y="3794760"/>
            <a:ext cx="5440680" cy="2148840"/>
          </a:xfrm>
          <a:prstGeom prst="roundRect">
            <a:avLst>
              <a:gd name="adj" fmla="val 3404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749808" y="3959352"/>
            <a:ext cx="146304" cy="146304"/>
          </a:xfrm>
          <a:prstGeom prst="ellipse">
            <a:avLst/>
          </a:prstGeom>
          <a:solidFill>
            <a:srgbClr val="1D4ED8"/>
          </a:solidFill>
          <a:ln/>
        </p:spPr>
      </p:sp>
      <p:sp>
        <p:nvSpPr>
          <p:cNvPr id="14" name="Text 12"/>
          <p:cNvSpPr/>
          <p:nvPr/>
        </p:nvSpPr>
        <p:spPr>
          <a:xfrm>
            <a:off x="1005840" y="3886200"/>
            <a:ext cx="4800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Reiniciar apagando dados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731520" y="4297680"/>
            <a:ext cx="507492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08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Entrada: </a:t>
            </a:r>
            <a:pPr indent="0" marL="0">
              <a:lnSpc>
                <a:spcPct val="125000"/>
              </a:lnSpc>
              <a:buNone/>
            </a:pPr>
            <a:r>
              <a:rPr lang="en-US" sz="108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Simulação com registros no banco
</a:t>
            </a:r>
            <a:pPr indent="0" marL="0">
              <a:lnSpc>
                <a:spcPct val="125000"/>
              </a:lnSpc>
              <a:buNone/>
            </a:pPr>
            <a:r>
              <a:rPr lang="en-US" sz="108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Passo a passo: </a:t>
            </a:r>
            <a:pPr indent="0" marL="0">
              <a:lnSpc>
                <a:spcPct val="125000"/>
              </a:lnSpc>
              <a:buNone/>
            </a:pPr>
            <a:r>
              <a:rPr lang="en-US" sz="108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Clicar em 'Reiniciar'
</a:t>
            </a:r>
            <a:pPr indent="0" marL="0">
              <a:lnSpc>
                <a:spcPct val="125000"/>
              </a:lnSpc>
              <a:buNone/>
            </a:pPr>
            <a:r>
              <a:rPr lang="en-US" sz="108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Resultado esperado: </a:t>
            </a:r>
            <a:pPr indent="0" marL="0">
              <a:lnSpc>
                <a:spcPct val="125000"/>
              </a:lnSpc>
              <a:buNone/>
            </a:pPr>
            <a:r>
              <a:rPr lang="en-US" sz="108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DELETE limpa a tabela e nova sessão é iniciada</a:t>
            </a:r>
            <a:endParaRPr lang="en-US" sz="1080" dirty="0"/>
          </a:p>
        </p:txBody>
      </p:sp>
      <p:sp>
        <p:nvSpPr>
          <p:cNvPr id="16" name="Shape 14"/>
          <p:cNvSpPr/>
          <p:nvPr/>
        </p:nvSpPr>
        <p:spPr>
          <a:xfrm>
            <a:off x="6172200" y="3794760"/>
            <a:ext cx="5440680" cy="2148840"/>
          </a:xfrm>
          <a:prstGeom prst="roundRect">
            <a:avLst>
              <a:gd name="adj" fmla="val 3404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373368" y="3959352"/>
            <a:ext cx="146304" cy="146304"/>
          </a:xfrm>
          <a:prstGeom prst="ellipse">
            <a:avLst/>
          </a:prstGeom>
          <a:solidFill>
            <a:srgbClr val="15803D"/>
          </a:solidFill>
          <a:ln/>
        </p:spPr>
      </p:sp>
      <p:sp>
        <p:nvSpPr>
          <p:cNvPr id="18" name="Text 16"/>
          <p:cNvSpPr/>
          <p:nvPr/>
        </p:nvSpPr>
        <p:spPr>
          <a:xfrm>
            <a:off x="6629400" y="3886200"/>
            <a:ext cx="4800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Velocidade 3x acelera a simulação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6355080" y="4297680"/>
            <a:ext cx="507492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08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Entrada: </a:t>
            </a:r>
            <a:pPr indent="0" marL="0">
              <a:lnSpc>
                <a:spcPct val="125000"/>
              </a:lnSpc>
              <a:buNone/>
            </a:pPr>
            <a:r>
              <a:rPr lang="en-US" sz="108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Simulação rodando em 1x
</a:t>
            </a:r>
            <a:pPr indent="0" marL="0">
              <a:lnSpc>
                <a:spcPct val="125000"/>
              </a:lnSpc>
              <a:buNone/>
            </a:pPr>
            <a:r>
              <a:rPr lang="en-US" sz="108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Passo a passo: </a:t>
            </a:r>
            <a:pPr indent="0" marL="0">
              <a:lnSpc>
                <a:spcPct val="125000"/>
              </a:lnSpc>
              <a:buNone/>
            </a:pPr>
            <a:r>
              <a:rPr lang="en-US" sz="108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Selecionar botão '3x'
</a:t>
            </a:r>
            <a:pPr indent="0" marL="0">
              <a:lnSpc>
                <a:spcPct val="125000"/>
              </a:lnSpc>
              <a:buNone/>
            </a:pPr>
            <a:r>
              <a:rPr lang="en-US" sz="108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Resultado esperado: </a:t>
            </a:r>
            <a:pPr indent="0" marL="0">
              <a:lnSpc>
                <a:spcPct val="125000"/>
              </a:lnSpc>
              <a:buNone/>
            </a:pPr>
            <a:r>
              <a:rPr lang="en-US" sz="108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Intervalo de entrada/saída reduz proporcionalmente</a:t>
            </a:r>
            <a:endParaRPr lang="en-US" sz="1080" dirty="0"/>
          </a:p>
        </p:txBody>
      </p:sp>
      <p:sp>
        <p:nvSpPr>
          <p:cNvPr id="20" name="Text 18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UNA Barreiro — Gestão e Qualidade de Software | ParkSim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11365992" y="647395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91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200" kern="0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9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110916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F1F5F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Conclusão e Desafios Identificados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417320"/>
            <a:ext cx="5303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CONCLUSÃO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48640" y="1783080"/>
            <a:ext cx="530352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30000"/>
              </a:lnSpc>
              <a:spcAft>
                <a:spcPts val="1200"/>
              </a:spcAft>
              <a:buSzPct val="100000"/>
              <a:buChar char="●"/>
            </a:pPr>
            <a:r>
              <a:rPr lang="en-US" sz="14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ParkSim integra simulação visual, banco de dados real, autenticação e relatório em PDF em um único projeto funcional.</a:t>
            </a:r>
            <a:endParaRPr lang="en-US" sz="1400" dirty="0"/>
          </a:p>
          <a:p>
            <a:pPr marL="342900" indent="-342900">
              <a:lnSpc>
                <a:spcPct val="130000"/>
              </a:lnSpc>
              <a:buSzPct val="100000"/>
              <a:buChar char="●"/>
            </a:pPr>
            <a:r>
              <a:rPr lang="en-US" sz="14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Demonstra na prática requisitos funcionais, não funcionais e atributos de qualidade (ISO/IEC 25010).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6309360" y="1417320"/>
            <a:ext cx="5303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DESAFIOS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6309360" y="1783080"/>
            <a:ext cx="530352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25000"/>
              </a:lnSpc>
              <a:spcAft>
                <a:spcPts val="1000"/>
              </a:spcAft>
              <a:buSzPct val="100000"/>
              <a:buChar char="●"/>
            </a:pPr>
            <a:r>
              <a:rPr lang="en-US" sz="13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Integração com o Supabase (client, chamadas assíncronas)</a:t>
            </a:r>
            <a:endParaRPr lang="en-US" sz="1350" dirty="0"/>
          </a:p>
          <a:p>
            <a:pPr marL="342900" indent="-342900">
              <a:lnSpc>
                <a:spcPct val="125000"/>
              </a:lnSpc>
              <a:spcAft>
                <a:spcPts val="1000"/>
              </a:spcAft>
              <a:buSzPct val="100000"/>
              <a:buChar char="●"/>
            </a:pPr>
            <a:r>
              <a:rPr lang="en-US" sz="13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Configuração correta de RLS e Auth para proteger o painel</a:t>
            </a:r>
            <a:endParaRPr lang="en-US" sz="1350" dirty="0"/>
          </a:p>
          <a:p>
            <a:pPr marL="342900" indent="-342900">
              <a:lnSpc>
                <a:spcPct val="125000"/>
              </a:lnSpc>
              <a:spcAft>
                <a:spcPts val="1000"/>
              </a:spcAft>
              <a:buSzPct val="100000"/>
              <a:buChar char="●"/>
            </a:pPr>
            <a:r>
              <a:rPr lang="en-US" sz="13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Sincronizar animação da interface com a persistência real</a:t>
            </a:r>
            <a:endParaRPr lang="en-US" sz="1350" dirty="0"/>
          </a:p>
          <a:p>
            <a:pPr marL="342900" indent="-342900">
              <a:lnSpc>
                <a:spcPct val="125000"/>
              </a:lnSpc>
              <a:spcAft>
                <a:spcPts val="1000"/>
              </a:spcAft>
              <a:buSzPct val="100000"/>
              <a:buChar char="●"/>
            </a:pPr>
            <a:r>
              <a:rPr lang="en-US" sz="13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Gerar PDF com dados consistentes com o banco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548640" y="4160520"/>
            <a:ext cx="11064240" cy="1554480"/>
          </a:xfrm>
          <a:prstGeom prst="roundRect">
            <a:avLst>
              <a:gd name="adj" fmla="val 4706"/>
            </a:avLst>
          </a:prstGeom>
          <a:solidFill>
            <a:srgbClr val="141B2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14400" y="4297680"/>
            <a:ext cx="103327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600" i="1" dirty="0">
                <a:solidFill>
                  <a:srgbClr val="F1F5F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“ParkSim demonstra, de forma prática, a aplicação de requisitos, arquitetura, banco de dados e qualidade de software em um projeto web funcional.”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UNA Barreiro — Gestão e Qualidade de Software | ParkSim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11365992" y="647395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2026-08-22T03:03:35Z</dcterms:created>
  <dcterms:modified xsi:type="dcterms:W3CDTF">2026-08-22T03:03:35Z</dcterms:modified>
</cp:coreProperties>
</file>